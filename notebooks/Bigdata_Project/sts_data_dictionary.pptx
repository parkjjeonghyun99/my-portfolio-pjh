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6" r:id="rId1"/>
  </p:sldMasterIdLst>
  <p:notesMasterIdLst>
    <p:notesMasterId r:id="rId6"/>
  </p:notesMasterIdLst>
  <p:handoutMasterIdLst>
    <p:handoutMasterId r:id="rId7"/>
  </p:handoutMasterIdLst>
  <p:sldIdLst>
    <p:sldId id="686" r:id="rId2"/>
    <p:sldId id="706" r:id="rId3"/>
    <p:sldId id="708" r:id="rId4"/>
    <p:sldId id="709" r:id="rId5"/>
  </p:sldIdLst>
  <p:sldSz cx="9904413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750" userDrawn="1">
          <p15:clr>
            <a:srgbClr val="A4A3A4"/>
          </p15:clr>
        </p15:guide>
        <p15:guide id="4" pos="398" userDrawn="1">
          <p15:clr>
            <a:srgbClr val="A4A3A4"/>
          </p15:clr>
        </p15:guide>
        <p15:guide id="6" pos="5977" userDrawn="1">
          <p15:clr>
            <a:srgbClr val="A4A3A4"/>
          </p15:clr>
        </p15:guide>
        <p15:guide id="7" pos="217" userDrawn="1">
          <p15:clr>
            <a:srgbClr val="A4A3A4"/>
          </p15:clr>
        </p15:guide>
        <p15:guide id="8" orient="horz" pos="4020" userDrawn="1">
          <p15:clr>
            <a:srgbClr val="A4A3A4"/>
          </p15:clr>
        </p15:guide>
        <p15:guide id="10" pos="307" userDrawn="1">
          <p15:clr>
            <a:srgbClr val="A4A3A4"/>
          </p15:clr>
        </p15:guide>
        <p15:guide id="11" orient="horz" pos="754" userDrawn="1">
          <p15:clr>
            <a:srgbClr val="A4A3A4"/>
          </p15:clr>
        </p15:guide>
        <p15:guide id="12" orient="horz" pos="618" userDrawn="1">
          <p15:clr>
            <a:srgbClr val="A4A3A4"/>
          </p15:clr>
        </p15:guide>
        <p15:guide id="13" orient="horz" pos="4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FCF"/>
    <a:srgbClr val="0000CC"/>
    <a:srgbClr val="002060"/>
    <a:srgbClr val="FFFF99"/>
    <a:srgbClr val="FFFF00"/>
    <a:srgbClr val="FFFF66"/>
    <a:srgbClr val="7F7F7F"/>
    <a:srgbClr val="00B0F0"/>
    <a:srgbClr val="3D3DD8"/>
    <a:srgbClr val="4747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3429" autoAdjust="0"/>
  </p:normalViewPr>
  <p:slideViewPr>
    <p:cSldViewPr>
      <p:cViewPr varScale="1">
        <p:scale>
          <a:sx n="113" d="100"/>
          <a:sy n="113" d="100"/>
        </p:scale>
        <p:origin x="1596" y="96"/>
      </p:cViewPr>
      <p:guideLst>
        <p:guide pos="5750"/>
        <p:guide pos="398"/>
        <p:guide pos="5977"/>
        <p:guide pos="217"/>
        <p:guide orient="horz" pos="4020"/>
        <p:guide pos="307"/>
        <p:guide orient="horz" pos="754"/>
        <p:guide orient="horz" pos="618"/>
        <p:guide orient="horz" pos="4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5487B-D2FA-4A53-8114-E3AEA53324C9}" type="datetimeFigureOut">
              <a:rPr lang="ko-KR" altLang="en-US" smtClean="0"/>
              <a:pPr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083D5-EE40-458A-8370-FE182664F9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75054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C59CF-47C6-4069-8E71-6884024ABEFA}" type="datetimeFigureOut">
              <a:rPr lang="ko-KR" altLang="en-US" smtClean="0"/>
              <a:pPr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E8434-9CE6-4B13-9D4B-73957E8B6C7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01876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D7EE0E-99E0-4331-A276-32BE5BF7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165-B80B-4338-8F14-55D2F81FD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15899B-0AB5-4EA3-8637-B5943DD86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4241F6-CC90-4F6F-B452-B8D71DB7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F305F-D1FB-494C-BD0E-FF3BCA33C5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12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01_혁신포스코1.0_표지.jpg">
            <a:extLst>
              <a:ext uri="{FF2B5EF4-FFF2-40B4-BE49-F238E27FC236}">
                <a16:creationId xmlns:a16="http://schemas.microsoft.com/office/drawing/2014/main" id="{210357AF-DD2B-482C-A301-23094593A2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98" y="1"/>
            <a:ext cx="9905613" cy="687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711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02.jp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460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5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7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20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82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5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8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0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4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6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9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1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07464" y="1352167"/>
            <a:ext cx="8889484" cy="85892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algn="ctr" defTabSz="914400" rtl="0" eaLnBrk="1" fontAlgn="base" latinLnBrk="1" hangingPunct="1">
              <a:spcBef>
                <a:spcPct val="50000"/>
              </a:spcBef>
              <a:spcAft>
                <a:spcPct val="0"/>
              </a:spcAft>
              <a:defRPr kumimoji="1" lang="en-US" sz="4800" b="1" kern="1200" dirty="0">
                <a:solidFill>
                  <a:srgbClr val="2A4677"/>
                </a:solidFill>
                <a:effectLst>
                  <a:glow rad="101600">
                    <a:prstClr val="white">
                      <a:alpha val="60000"/>
                    </a:prstClr>
                  </a:glow>
                </a:effectLst>
                <a:latin typeface="나눔고딕"/>
                <a:ea typeface="나눔고딕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defRPr>
            </a:lvl5pPr>
            <a:lvl6pPr marL="457139" algn="l" rtl="0" fontAlgn="base" latinLnBrk="1">
              <a:spcBef>
                <a:spcPct val="0"/>
              </a:spcBef>
              <a:spcAft>
                <a:spcPct val="0"/>
              </a:spcAft>
              <a:defRPr kumimoji="1" sz="1401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defRPr>
            </a:lvl6pPr>
            <a:lvl7pPr marL="914274" algn="l" rtl="0" fontAlgn="base" latinLnBrk="1">
              <a:spcBef>
                <a:spcPct val="0"/>
              </a:spcBef>
              <a:spcAft>
                <a:spcPct val="0"/>
              </a:spcAft>
              <a:defRPr kumimoji="1" sz="1401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defRPr>
            </a:lvl7pPr>
            <a:lvl8pPr marL="1371413" algn="l" rtl="0" fontAlgn="base" latinLnBrk="1">
              <a:spcBef>
                <a:spcPct val="0"/>
              </a:spcBef>
              <a:spcAft>
                <a:spcPct val="0"/>
              </a:spcAft>
              <a:defRPr kumimoji="1" sz="1401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defRPr>
            </a:lvl8pPr>
            <a:lvl9pPr marL="1828549" algn="l" rtl="0" fontAlgn="base" latinLnBrk="1">
              <a:spcBef>
                <a:spcPct val="0"/>
              </a:spcBef>
              <a:spcAft>
                <a:spcPct val="0"/>
              </a:spcAft>
              <a:defRPr kumimoji="1" sz="1401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defRPr>
            </a:lvl9pPr>
          </a:lstStyle>
          <a:p>
            <a:r>
              <a:rPr lang="ko-KR" altLang="en-US" sz="3600" dirty="0">
                <a:solidFill>
                  <a:srgbClr val="09507D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스테인리스강 불량 저감</a:t>
            </a:r>
            <a:endParaRPr lang="en-US" altLang="ko-KR" sz="3600" dirty="0">
              <a:solidFill>
                <a:srgbClr val="09507D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078" name="Picture 6" descr="스테인리스 소재로 만들어낸 주방 스테인리스 물품">
            <a:extLst>
              <a:ext uri="{FF2B5EF4-FFF2-40B4-BE49-F238E27FC236}">
                <a16:creationId xmlns:a16="http://schemas.microsoft.com/office/drawing/2014/main" id="{1E889D10-27E3-4AE5-F4A1-AEE2B6F4F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660" y="4223300"/>
            <a:ext cx="4263645" cy="155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LNG 선박과 스테인리스 2구 싱크대 냄비가 있다.">
            <a:extLst>
              <a:ext uri="{FF2B5EF4-FFF2-40B4-BE49-F238E27FC236}">
                <a16:creationId xmlns:a16="http://schemas.microsoft.com/office/drawing/2014/main" id="{6E42F3DC-03C1-158B-F7A9-5AC7241C2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41"/>
          <a:stretch/>
        </p:blipFill>
        <p:spPr bwMode="auto">
          <a:xfrm>
            <a:off x="5096222" y="2492896"/>
            <a:ext cx="4707955" cy="158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확대이미지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63" y="2733406"/>
            <a:ext cx="4789559" cy="304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03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0478" y="693130"/>
            <a:ext cx="6799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제강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연주 공정 </a:t>
            </a:r>
            <a:r>
              <a:rPr lang="en-US" altLang="ko-KR" sz="1400" b="1" dirty="0"/>
              <a:t>(Row : 23,649/ Column : 15) | </a:t>
            </a:r>
            <a:r>
              <a:rPr lang="ko-KR" altLang="en-US" sz="1400" b="1" dirty="0"/>
              <a:t>파일명 </a:t>
            </a:r>
            <a:r>
              <a:rPr lang="en-US" altLang="ko-KR" sz="1400" b="1" dirty="0"/>
              <a:t>: sts_1sm_cc.csv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090417"/>
              </p:ext>
            </p:extLst>
          </p:nvPr>
        </p:nvGraphicFramePr>
        <p:xfrm>
          <a:off x="91440" y="1074268"/>
          <a:ext cx="9757309" cy="5246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206">
                  <a:extLst>
                    <a:ext uri="{9D8B030D-6E8A-4147-A177-3AD203B41FA5}">
                      <a16:colId xmlns:a16="http://schemas.microsoft.com/office/drawing/2014/main" val="2367447839"/>
                    </a:ext>
                  </a:extLst>
                </a:gridCol>
                <a:gridCol w="1703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2527">
                  <a:extLst>
                    <a:ext uri="{9D8B030D-6E8A-4147-A177-3AD203B41FA5}">
                      <a16:colId xmlns:a16="http://schemas.microsoft.com/office/drawing/2014/main" val="3374860810"/>
                    </a:ext>
                  </a:extLst>
                </a:gridCol>
              </a:tblGrid>
              <a:tr h="266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변수 명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변수　타입</a:t>
                      </a:r>
                    </a:p>
                  </a:txBody>
                  <a:tcPr marL="74283" marR="74283" marT="37142" marB="37142"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상세 내용 </a:t>
                      </a:r>
                    </a:p>
                  </a:txBody>
                  <a:tcPr marL="74283" marR="74283" marT="37142" marB="37142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4283" marR="74283" marT="37142" marB="371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sm_plant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ID</a:t>
                      </a:r>
                      <a:endParaRPr lang="ko-KR" altLang="en-US" sz="11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제강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Steel Making)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공장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marL="0" marR="0" indent="0" algn="l" defTabSz="91432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공장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/2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공장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charge_id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Charge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쇳물　고유 식별 번호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3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steel_grade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등급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marL="0" marR="0" indent="0" algn="l" defTabSz="91432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C12/C13</a:t>
                      </a: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1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4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steel_usage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용도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RJ1(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일반냉연용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)/RJ2(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냉연고강용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)/RZ1(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일반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Reroll)/RZ6(BA Reroll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용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)/Other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0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5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delta_ferrite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latinLnBrk="1" hangingPunct="1"/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Delta Ferrite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함량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Krupp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식 적용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성분들을 이용 계산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[{(%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 + %Mo + 1.5%Si + 0.5%Nb +2%Ti + 18) / %Ni + 30 ( %C + %N ) + 0.5%Mn + 36)} +0.262]  * 161 – 161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6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ingre_cr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화학성분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87341691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7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ingre_ni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화학성분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1339447275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8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ingre_s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화학성분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1793769402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9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cast_date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연주일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32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연속적으로　주조한　날짜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2725519879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10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cc_gubun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연연주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구분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１연주／，．．，／４연주　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447700956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11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tundish_temp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Tundish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온도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(℃)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Tundish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에서　용강 평균온도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1895415654"/>
                  </a:ext>
                </a:extLst>
              </a:tr>
              <a:tr h="4269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12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mlac_ratio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MLAC 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적중율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Mold Level Auto Control System (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연주 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Mold 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탕면 자동제어장치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). </a:t>
                      </a:r>
                    </a:p>
                    <a:p>
                      <a:pPr algn="l" fontAlgn="ctr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Mold 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용강탕면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±1mm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내 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적중율</a:t>
                      </a: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3694927848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13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slab_no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2694830268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14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slab_gubun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datetime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주편구분</a:t>
                      </a: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marL="0" marR="0" indent="0" algn="l" defTabSz="914325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C(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중앙주편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)/M(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혼합주편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)/Others</a:t>
                      </a: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2950204101"/>
                  </a:ext>
                </a:extLst>
              </a:tr>
              <a:tr h="299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15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slab_grind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datetime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그라인딩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방법</a:t>
                      </a:r>
                    </a:p>
                  </a:txBody>
                  <a:tcPr marL="36000" marR="36000" marT="366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전면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G/D(MS),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부분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G/D(MP), Hand G/D(HS), No G/D(MISS)</a:t>
                      </a:r>
                    </a:p>
                  </a:txBody>
                  <a:tcPr marL="72000" marR="36000" marT="3663" marB="0" anchor="ctr"/>
                </a:tc>
                <a:extLst>
                  <a:ext uri="{0D108BD9-81ED-4DB2-BD59-A6C34878D82A}">
                    <a16:rowId xmlns:a16="http://schemas.microsoft.com/office/drawing/2014/main" val="41682814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6FD19F-CEDB-3B96-6076-96ED94F17E4C}"/>
              </a:ext>
            </a:extLst>
          </p:cNvPr>
          <p:cNvSpPr txBox="1"/>
          <p:nvPr/>
        </p:nvSpPr>
        <p:spPr>
          <a:xfrm>
            <a:off x="113174" y="59638"/>
            <a:ext cx="495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 </a:t>
            </a:r>
            <a:r>
              <a:rPr lang="ko-KR" altLang="en-US" sz="2400" b="1" dirty="0">
                <a:solidFill>
                  <a:srgbClr val="004B96"/>
                </a:solidFill>
                <a:latin typeface="HY견고딕" pitchFamily="18" charset="-127"/>
                <a:ea typeface="HY견고딕" pitchFamily="18" charset="-127"/>
              </a:rPr>
              <a:t>데이터 정의서 </a:t>
            </a:r>
            <a:r>
              <a:rPr lang="en-US" altLang="ko-KR" sz="2400" b="1" dirty="0">
                <a:solidFill>
                  <a:srgbClr val="004B96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endParaRPr lang="ko-KR" altLang="en-US" sz="2400" b="1" dirty="0">
              <a:solidFill>
                <a:srgbClr val="004B96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C7F87E-7AB9-E11B-5460-7CB6459891CF}"/>
              </a:ext>
            </a:extLst>
          </p:cNvPr>
          <p:cNvSpPr/>
          <p:nvPr/>
        </p:nvSpPr>
        <p:spPr>
          <a:xfrm>
            <a:off x="6392367" y="188639"/>
            <a:ext cx="3364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b="1" dirty="0">
                <a:solidFill>
                  <a:srgbClr val="002060"/>
                </a:solidFill>
                <a:latin typeface="맑은 고딕" pitchFamily="50" charset="-127"/>
                <a:ea typeface="맑은 고딕" panose="020B0503020000020004" pitchFamily="50" charset="-127"/>
              </a:rPr>
              <a:t>  스테인리스강 불량 저감</a:t>
            </a:r>
            <a:endParaRPr lang="en-US" altLang="ko-KR" sz="1600" b="1" dirty="0">
              <a:solidFill>
                <a:srgbClr val="002060"/>
              </a:solidFill>
              <a:latin typeface="맑은 고딕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3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0478" y="693130"/>
            <a:ext cx="6799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열연 공정 </a:t>
            </a:r>
            <a:r>
              <a:rPr lang="en-US" altLang="ko-KR" sz="1400" b="1" dirty="0"/>
              <a:t>(Row : 23,652/ Column : 26) | </a:t>
            </a:r>
            <a:r>
              <a:rPr lang="ko-KR" altLang="en-US" sz="1400" b="1" dirty="0"/>
              <a:t>파일명 </a:t>
            </a:r>
            <a:r>
              <a:rPr lang="en-US" altLang="ko-KR" sz="1400" b="1" dirty="0"/>
              <a:t>: sts_2fur_hr.csv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FD19F-CEDB-3B96-6076-96ED94F17E4C}"/>
              </a:ext>
            </a:extLst>
          </p:cNvPr>
          <p:cNvSpPr txBox="1"/>
          <p:nvPr/>
        </p:nvSpPr>
        <p:spPr>
          <a:xfrm>
            <a:off x="113174" y="59638"/>
            <a:ext cx="495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 </a:t>
            </a:r>
            <a:r>
              <a:rPr lang="ko-KR" altLang="en-US" sz="2400" b="1" dirty="0">
                <a:solidFill>
                  <a:srgbClr val="004B96"/>
                </a:solidFill>
                <a:latin typeface="HY견고딕" pitchFamily="18" charset="-127"/>
                <a:ea typeface="HY견고딕" pitchFamily="18" charset="-127"/>
              </a:rPr>
              <a:t>데이터 정의서 </a:t>
            </a:r>
            <a:r>
              <a:rPr lang="en-US" altLang="ko-KR" sz="2400" b="1" dirty="0">
                <a:solidFill>
                  <a:srgbClr val="004B96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endParaRPr lang="ko-KR" altLang="en-US" sz="2400" b="1" dirty="0">
              <a:solidFill>
                <a:srgbClr val="004B96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C7F87E-7AB9-E11B-5460-7CB6459891CF}"/>
              </a:ext>
            </a:extLst>
          </p:cNvPr>
          <p:cNvSpPr/>
          <p:nvPr/>
        </p:nvSpPr>
        <p:spPr>
          <a:xfrm>
            <a:off x="6392367" y="188639"/>
            <a:ext cx="3364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b="1" dirty="0">
                <a:solidFill>
                  <a:srgbClr val="002060"/>
                </a:solidFill>
                <a:latin typeface="맑은 고딕" pitchFamily="50" charset="-127"/>
                <a:ea typeface="맑은 고딕" panose="020B0503020000020004" pitchFamily="50" charset="-127"/>
              </a:rPr>
              <a:t>  스테인리스강 불량 저감</a:t>
            </a:r>
            <a:endParaRPr lang="en-US" altLang="ko-KR" sz="1600" b="1" dirty="0">
              <a:solidFill>
                <a:srgbClr val="002060"/>
              </a:solidFill>
              <a:latin typeface="맑은 고딕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88308"/>
              </p:ext>
            </p:extLst>
          </p:nvPr>
        </p:nvGraphicFramePr>
        <p:xfrm>
          <a:off x="91439" y="980728"/>
          <a:ext cx="9715501" cy="5778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483">
                  <a:extLst>
                    <a:ext uri="{9D8B030D-6E8A-4147-A177-3AD203B41FA5}">
                      <a16:colId xmlns:a16="http://schemas.microsoft.com/office/drawing/2014/main" val="2367447839"/>
                    </a:ext>
                  </a:extLst>
                </a:gridCol>
                <a:gridCol w="1695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8630">
                  <a:extLst>
                    <a:ext uri="{9D8B030D-6E8A-4147-A177-3AD203B41FA5}">
                      <a16:colId xmlns:a16="http://schemas.microsoft.com/office/drawing/2014/main" val="3374860810"/>
                    </a:ext>
                  </a:extLst>
                </a:gridCol>
              </a:tblGrid>
              <a:tr h="232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No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변수 명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변수　타입</a:t>
                      </a:r>
                    </a:p>
                  </a:txBody>
                  <a:tcPr marL="74283" marR="74283" marT="37142" marB="37142"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상세 내용 </a:t>
                      </a:r>
                    </a:p>
                  </a:txBody>
                  <a:tcPr marL="74283" marR="74283" marT="37142" marB="37142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4283" marR="74283" marT="37142" marB="371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charge_id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Charge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325" rtl="0" eaLnBrk="1" fontAlgn="t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slab_no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>
                        <a:lnSpc>
                          <a:spcPct val="80000"/>
                        </a:lnSpc>
                      </a:pPr>
                      <a:endParaRPr lang="ko-KR" altLang="en-US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63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3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furnace_no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가열로 호기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호기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/4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호기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6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4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f_jangip_gubun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CCR/HCR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  <a:endParaRPr lang="en-US" altLang="ko-KR" sz="105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장입온도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300℃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미만：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CCR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300℃ 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이상：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HCR</a:t>
                      </a:r>
                    </a:p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＊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CCR(Cold Charge Rolling,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냉간 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장입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압연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＊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HCR(Hot Charge Rolling,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열간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장입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압연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5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f_jangip_temp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장입온도</a:t>
                      </a:r>
                      <a:r>
                        <a:rPr lang="en-US" altLang="ko-KR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(℃)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0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6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f_bfg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BFG(Blast Furnace Gas,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고로　가스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기준발열량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BGF 750kcal/Nm3, COG 4200kcal/Nm3, </a:t>
                      </a:r>
                      <a:b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LDG2000kcal/Nm3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3416912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7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f_cog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COG(Coke Oven Gas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，코크스로　가스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9447275"/>
                  </a:ext>
                </a:extLst>
              </a:tr>
              <a:tr h="199677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8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f_ldg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LDG(Linz 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Donawitz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Gas,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전로　가스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3769402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9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f_bfg_per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BFG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함량비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bfg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(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bfg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cog + 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ldg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* 100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5519879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10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f_cog_per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COG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함량비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cog / (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bfg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cog + 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ldg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* 100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47700956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11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f_ldg_per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LDG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함량비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ldg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/ (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bfg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cog + </a:t>
                      </a:r>
                      <a:r>
                        <a:rPr 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ldg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* 100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9698721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12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f_pre_temp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예열온도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(℃)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5415654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13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f_heat_temp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가열온도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(℃)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94927848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14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f_sock_temp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균열온도</a:t>
                      </a:r>
                      <a:r>
                        <a:rPr lang="en-US" altLang="ko-KR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(℃)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4830268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15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f_pre_interval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예열시간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0204101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16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f_heat_interval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가열시간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68281473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17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f_soak_interval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균열시간</a:t>
                      </a:r>
                      <a:r>
                        <a:rPr lang="en-US" altLang="ko-KR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130515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18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f_ext_date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datetime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가열로 추출일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2237682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19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f_ext_time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datetime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가열로 추출시간대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8009051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20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hr_coil_id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열연코일 번호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9218775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21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hr_date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날짜형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열간압연　날짜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6834097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22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hr_thick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열연두께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(㎜)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69919607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23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hr_width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열연폭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(㎜)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5810431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24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rm4_temp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조압연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번 </a:t>
                      </a:r>
                      <a:r>
                        <a:rPr lang="ko-KR" altLang="en-US" sz="105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직후온도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(℃)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5323162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25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rm_pitch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압연 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Pitch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643253"/>
                  </a:ext>
                </a:extLst>
              </a:tr>
              <a:tr h="188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26</a:t>
                      </a:r>
                      <a:endParaRPr lang="ko-KR" altLang="en-US" sz="1000" dirty="0"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slab_width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SLAB_</a:t>
                      </a:r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폭 </a:t>
                      </a:r>
                      <a:r>
                        <a:rPr lang="en-US" altLang="ko-KR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㎜)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05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7801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80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0478" y="693130"/>
            <a:ext cx="6799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소둔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산세 공정 </a:t>
            </a:r>
            <a:r>
              <a:rPr lang="en-US" altLang="ko-KR" sz="1400" b="1" dirty="0"/>
              <a:t>(Row : 23,652/ Column : 9) | </a:t>
            </a:r>
            <a:r>
              <a:rPr lang="ko-KR" altLang="en-US" sz="1400" b="1" dirty="0"/>
              <a:t>파일명 </a:t>
            </a:r>
            <a:r>
              <a:rPr lang="en-US" altLang="ko-KR" sz="1400" b="1" dirty="0"/>
              <a:t>: sts_3ap.csv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FD19F-CEDB-3B96-6076-96ED94F17E4C}"/>
              </a:ext>
            </a:extLst>
          </p:cNvPr>
          <p:cNvSpPr txBox="1"/>
          <p:nvPr/>
        </p:nvSpPr>
        <p:spPr>
          <a:xfrm>
            <a:off x="113174" y="59638"/>
            <a:ext cx="495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 </a:t>
            </a:r>
            <a:r>
              <a:rPr lang="ko-KR" altLang="en-US" sz="2400" b="1" dirty="0">
                <a:solidFill>
                  <a:srgbClr val="004B96"/>
                </a:solidFill>
                <a:latin typeface="HY견고딕" pitchFamily="18" charset="-127"/>
                <a:ea typeface="HY견고딕" pitchFamily="18" charset="-127"/>
              </a:rPr>
              <a:t>데이터 정의서 </a:t>
            </a:r>
            <a:r>
              <a:rPr lang="en-US" altLang="ko-KR" sz="2400" b="1" dirty="0">
                <a:solidFill>
                  <a:srgbClr val="004B96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endParaRPr lang="ko-KR" altLang="en-US" sz="2400" b="1" dirty="0">
              <a:solidFill>
                <a:srgbClr val="004B96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C7F87E-7AB9-E11B-5460-7CB6459891CF}"/>
              </a:ext>
            </a:extLst>
          </p:cNvPr>
          <p:cNvSpPr/>
          <p:nvPr/>
        </p:nvSpPr>
        <p:spPr>
          <a:xfrm>
            <a:off x="6392367" y="188639"/>
            <a:ext cx="3364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b="1" dirty="0">
                <a:solidFill>
                  <a:srgbClr val="002060"/>
                </a:solidFill>
                <a:latin typeface="맑은 고딕" pitchFamily="50" charset="-127"/>
                <a:ea typeface="맑은 고딕" panose="020B0503020000020004" pitchFamily="50" charset="-127"/>
              </a:rPr>
              <a:t>  스테인리스강 불량 저감</a:t>
            </a:r>
            <a:endParaRPr lang="en-US" altLang="ko-KR" sz="1600" b="1" dirty="0">
              <a:solidFill>
                <a:srgbClr val="002060"/>
              </a:solidFill>
              <a:latin typeface="맑은 고딕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51939"/>
              </p:ext>
            </p:extLst>
          </p:nvPr>
        </p:nvGraphicFramePr>
        <p:xfrm>
          <a:off x="127670" y="1074266"/>
          <a:ext cx="9577064" cy="4089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367447839"/>
                    </a:ext>
                  </a:extLst>
                </a:gridCol>
                <a:gridCol w="1677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374860810"/>
                    </a:ext>
                  </a:extLst>
                </a:gridCol>
              </a:tblGrid>
              <a:tr h="285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변수 명</a:t>
                      </a:r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변수　타입</a:t>
                      </a:r>
                    </a:p>
                  </a:txBody>
                  <a:tcPr marL="74283" marR="74283" marT="37142" marB="37142"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상세 내용 </a:t>
                      </a:r>
                    </a:p>
                  </a:txBody>
                  <a:tcPr marL="74283" marR="74283" marT="37142" marB="37142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4283" marR="74283" marT="37142" marB="3714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7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judge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불량여부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목표변수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－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Coil Grinding(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평점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이상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불량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). </a:t>
                      </a:r>
                      <a:b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https://patents.google.com/</a:t>
                      </a:r>
                      <a:b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patent/KR101066579B1/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ko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hr_coil_id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열연코일 번호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ap_plant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APL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공장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ap_prod_id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</a:t>
                      </a:r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생산번호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ap_date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datetime</a:t>
                      </a:r>
                      <a:endParaRPr lang="ko-KR" altLang="en-US" sz="1200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작업일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Annealing &amp; Pickling (Line), </a:t>
                      </a:r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소둔산세라인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9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ap_shift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범주형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</a:t>
                      </a:r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작업조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3416912"/>
                  </a:ext>
                </a:extLst>
              </a:tr>
              <a:tr h="3738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ap_thick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두께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(㎜)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944727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ap_width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폭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(㎜)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325" rtl="0" eaLnBrk="1" fontAlgn="t" latinLnBrk="1" hangingPunct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3769402"/>
                  </a:ext>
                </a:extLst>
              </a:tr>
              <a:tr h="5295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74283" marR="74283" marT="37142" marB="37142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ap_line_speed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연속형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소둔산세라인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  <a:r>
                        <a:rPr lang="ko-KR" alt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속도（ｍｐｍ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25" rtl="0" eaLnBrk="1" fontAlgn="t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 Line Speed</a:t>
                      </a:r>
                    </a:p>
                    <a:p>
                      <a:pPr marL="0" algn="ctr" defTabSz="914325" rtl="0" eaLnBrk="1" fontAlgn="t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mpm,meters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per minute)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551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117420"/>
      </p:ext>
    </p:extLst>
  </p:cSld>
  <p:clrMapOvr>
    <a:masterClrMapping/>
  </p:clrMapOvr>
</p:sld>
</file>

<file path=ppt/theme/theme1.xml><?xml version="1.0" encoding="utf-8"?>
<a:theme xmlns:a="http://schemas.openxmlformats.org/drawingml/2006/main" name="2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43750</TotalTime>
  <Words>905</Words>
  <Application>Microsoft Office PowerPoint</Application>
  <PresentationFormat>사용자 지정</PresentationFormat>
  <Paragraphs>271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HY견고딕</vt:lpstr>
      <vt:lpstr>Malgun Gothic Semilight</vt:lpstr>
      <vt:lpstr>맑은 고딕</vt:lpstr>
      <vt:lpstr>Arial</vt:lpstr>
      <vt:lpstr>22_Office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wonseok han</cp:lastModifiedBy>
  <cp:revision>2331</cp:revision>
  <dcterms:created xsi:type="dcterms:W3CDTF">2006-10-05T04:04:58Z</dcterms:created>
  <dcterms:modified xsi:type="dcterms:W3CDTF">2026-03-20T00:17:20Z</dcterms:modified>
</cp:coreProperties>
</file>